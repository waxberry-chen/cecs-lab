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7"/>
  </p:handoutMasterIdLst>
  <p:sldIdLst>
    <p:sldId id="256" r:id="rId3"/>
    <p:sldId id="305" r:id="rId5"/>
    <p:sldId id="304" r:id="rId6"/>
  </p:sldIdLst>
  <p:sldSz cx="12192000" cy="6858000"/>
  <p:notesSz cx="7103745" cy="10234295"/>
  <p:custDataLst>
    <p:tags r:id="rId1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480" autoAdjust="0"/>
    <p:restoredTop sz="86141" autoAdjust="0"/>
  </p:normalViewPr>
  <p:slideViewPr>
    <p:cSldViewPr snapToGrid="0">
      <p:cViewPr varScale="1">
        <p:scale>
          <a:sx n="139" d="100"/>
          <a:sy n="139" d="100"/>
        </p:scale>
        <p:origin x="1260" y="12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handoutMaster" Target="handoutMasters/handoutMaster1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gs" Target="tags/tag3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49" y="469127"/>
            <a:ext cx="10307927" cy="4093347"/>
          </a:xfrm>
        </p:spPr>
        <p:txBody>
          <a:bodyPr anchor="b">
            <a:norm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10307926" cy="647555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s 40"/>
          <p:cNvSpPr/>
          <p:nvPr/>
        </p:nvSpPr>
        <p:spPr>
          <a:xfrm>
            <a:off x="120015" y="116840"/>
            <a:ext cx="11952000" cy="6624000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 Box 41"/>
          <p:cNvSpPr txBox="1"/>
          <p:nvPr/>
        </p:nvSpPr>
        <p:spPr>
          <a:xfrm>
            <a:off x="3063875" y="2414270"/>
            <a:ext cx="645826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000" b="1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-简" panose="02010800040101010101" charset="-122"/>
              </a:rPr>
              <a:t>TODO</a:t>
            </a:r>
            <a:endParaRPr lang="en-US" altLang="zh-CN" sz="6000" b="1" dirty="0">
              <a:solidFill>
                <a:schemeClr val="tx1"/>
              </a:solidFill>
              <a:uFillTx/>
              <a:latin typeface="Times New Roman" panose="02020603050405020304" charset="0"/>
              <a:ea typeface="宋体-简" panose="02010800040101010101" charset="-122"/>
            </a:endParaRPr>
          </a:p>
        </p:txBody>
      </p:sp>
      <p:sp>
        <p:nvSpPr>
          <p:cNvPr id="70" name="文本框 69"/>
          <p:cNvSpPr txBox="1"/>
          <p:nvPr/>
        </p:nvSpPr>
        <p:spPr>
          <a:xfrm>
            <a:off x="3798570" y="3530600"/>
            <a:ext cx="459486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-简" panose="02010800040101010101" charset="-122"/>
              </a:rPr>
              <a:t>TODO</a:t>
            </a:r>
            <a:endParaRPr lang="en-US" sz="2000" dirty="0">
              <a:solidFill>
                <a:schemeClr val="tx1"/>
              </a:solidFill>
              <a:uFillTx/>
              <a:latin typeface="Times New Roman" panose="02020603050405020304" charset="0"/>
              <a:ea typeface="宋体-简" panose="02010800040101010101" charset="-122"/>
            </a:endParaRPr>
          </a:p>
          <a:p>
            <a:pPr algn="ctr"/>
            <a:r>
              <a:rPr lang="en-US" altLang="zh-CN" sz="2000" dirty="0">
                <a:solidFill>
                  <a:schemeClr val="tx1"/>
                </a:solidFill>
                <a:uFillTx/>
                <a:latin typeface="Times New Roman" panose="02020603050405020304" charset="0"/>
                <a:ea typeface="宋体-简" panose="02010800040101010101" charset="-122"/>
              </a:rPr>
              <a:t>yyyy/mm/dd</a:t>
            </a:r>
            <a:endParaRPr lang="en-US" altLang="zh-CN" sz="2000" dirty="0">
              <a:solidFill>
                <a:schemeClr val="tx1"/>
              </a:solidFill>
              <a:uFillTx/>
              <a:latin typeface="Times New Roman" panose="02020603050405020304" charset="0"/>
              <a:ea typeface="宋体-简" panose="02010800040101010101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2360" y="3054985"/>
            <a:ext cx="7447540" cy="3600000"/>
          </a:xfrm>
          <a:prstGeom prst="rect">
            <a:avLst/>
          </a:prstGeom>
        </p:spPr>
      </p:pic>
      <p:sp>
        <p:nvSpPr>
          <p:cNvPr id="41" name="Rectangles 40"/>
          <p:cNvSpPr/>
          <p:nvPr/>
        </p:nvSpPr>
        <p:spPr>
          <a:xfrm>
            <a:off x="120015" y="116840"/>
            <a:ext cx="11952000" cy="6624000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>
              <a:sym typeface="+mn-ea"/>
            </a:endParaRPr>
          </a:p>
        </p:txBody>
      </p:sp>
      <p:sp>
        <p:nvSpPr>
          <p:cNvPr id="42" name="Text Box 41"/>
          <p:cNvSpPr txBox="1"/>
          <p:nvPr/>
        </p:nvSpPr>
        <p:spPr>
          <a:xfrm>
            <a:off x="120015" y="116840"/>
            <a:ext cx="740727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buFont typeface="Arial" panose="020B0604020202020204" pitchFamily="34" charset="0"/>
              <a:buNone/>
            </a:pPr>
            <a:r>
              <a:rPr lang="en-US" altLang="zh-CN" sz="3200" dirty="0">
                <a:uFillTx/>
                <a:latin typeface="Times New Roman" panose="02020603050405020304" charset="0"/>
                <a:ea typeface="宋体-简" panose="02010800040101010101" charset="-122"/>
                <a:sym typeface="+mn-ea"/>
              </a:rPr>
              <a:t>Lab3. 流水线构建 </a:t>
            </a:r>
            <a:r>
              <a:rPr lang="zh-CN" altLang="en-US" sz="3200" dirty="0">
                <a:uFillTx/>
                <a:latin typeface="Times New Roman" panose="02020603050405020304" charset="0"/>
                <a:ea typeface="宋体-简" panose="02010800040101010101" charset="-122"/>
                <a:sym typeface="+mn-ea"/>
              </a:rPr>
              <a:t>实验报告</a:t>
            </a:r>
            <a:endParaRPr lang="zh-CN" altLang="en-US" sz="3200" dirty="0">
              <a:uFillTx/>
              <a:latin typeface="Times New Roman" panose="02020603050405020304" charset="0"/>
              <a:ea typeface="宋体-简" panose="02010800040101010101" charset="-122"/>
              <a:sym typeface="+mn-ea"/>
            </a:endParaRPr>
          </a:p>
        </p:txBody>
      </p:sp>
      <p:cxnSp>
        <p:nvCxnSpPr>
          <p:cNvPr id="43" name="Straight Connector 42"/>
          <p:cNvCxnSpPr/>
          <p:nvPr/>
        </p:nvCxnSpPr>
        <p:spPr>
          <a:xfrm>
            <a:off x="120015" y="700405"/>
            <a:ext cx="11952000" cy="0"/>
          </a:xfrm>
          <a:prstGeom prst="line">
            <a:avLst/>
          </a:prstGeom>
          <a:ln>
            <a:solidFill>
              <a:srgbClr val="2020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119380" y="700405"/>
            <a:ext cx="11952605" cy="27552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>
              <a:buFont typeface="Arial" panose="020B0604020202020204" pitchFamily="34" charset="0"/>
              <a:buNone/>
            </a:pPr>
            <a:r>
              <a:rPr lang="en-US" altLang="zh-CN" sz="2000" dirty="0">
                <a:solidFill>
                  <a:schemeClr val="accent6"/>
                </a:solidFill>
                <a:uFillTx/>
                <a:latin typeface="Times New Roman" panose="02020603050405020304" charset="0"/>
                <a:ea typeface="宋体-简" panose="02010800040101010101" charset="-122"/>
              </a:rPr>
              <a:t>1. rd 为 0 的算数指令可以前递数据吗？为什么 Hazard 中的前递逻辑里没有考虑这种情况？</a:t>
            </a:r>
            <a:br>
              <a:rPr lang="en-US" altLang="zh-CN" sz="2400" b="1" dirty="0">
                <a:solidFill>
                  <a:schemeClr val="accent6"/>
                </a:solidFill>
                <a:latin typeface="Times New Roman" panose="02020603050405020304" charset="0"/>
                <a:ea typeface="宋体-简" panose="02010800040101010101" charset="-122"/>
              </a:rPr>
            </a:br>
            <a:r>
              <a:rPr lang="en-US" altLang="zh-CN" sz="1600" dirty="0">
                <a:uFillTx/>
                <a:latin typeface="Times New Roman" panose="02020603050405020304" charset="0"/>
                <a:ea typeface="宋体-简" panose="02010800040101010101" charset="-122"/>
                <a:sym typeface="+mn-ea"/>
              </a:rPr>
              <a:t>- </a:t>
            </a:r>
            <a:r>
              <a:rPr lang="zh-CN" altLang="en-US" sz="1600" dirty="0">
                <a:uFillTx/>
                <a:latin typeface="Times New Roman" panose="02020603050405020304" charset="0"/>
                <a:ea typeface="宋体-简" panose="02010800040101010101" charset="-122"/>
                <a:sym typeface="+mn-ea"/>
              </a:rPr>
              <a:t>当然不行</a:t>
            </a:r>
            <a:r>
              <a:rPr lang="en-US" altLang="zh-CN" sz="1600" dirty="0">
                <a:uFillTx/>
                <a:latin typeface="Times New Roman" panose="02020603050405020304" charset="0"/>
                <a:ea typeface="宋体-简" panose="02010800040101010101" charset="-122"/>
                <a:sym typeface="+mn-ea"/>
              </a:rPr>
              <a:t>, </a:t>
            </a:r>
            <a:r>
              <a:rPr lang="zh-CN" altLang="en-US" sz="1600" dirty="0">
                <a:uFillTx/>
                <a:latin typeface="Times New Roman" panose="02020603050405020304" charset="0"/>
                <a:ea typeface="宋体-简" panose="02010800040101010101" charset="-122"/>
                <a:sym typeface="+mn-ea"/>
              </a:rPr>
              <a:t>因为</a:t>
            </a:r>
            <a:r>
              <a:rPr lang="en-US" altLang="zh-CN" sz="1600" dirty="0">
                <a:uFillTx/>
                <a:latin typeface="Times New Roman" panose="02020603050405020304" charset="0"/>
                <a:ea typeface="宋体-简" panose="02010800040101010101" charset="-122"/>
                <a:sym typeface="+mn-ea"/>
              </a:rPr>
              <a:t>Forward</a:t>
            </a:r>
            <a:r>
              <a:rPr lang="zh-CN" altLang="en-US" sz="1600" dirty="0">
                <a:uFillTx/>
                <a:latin typeface="Times New Roman" panose="02020603050405020304" charset="0"/>
                <a:ea typeface="宋体-简" panose="02010800040101010101" charset="-122"/>
                <a:sym typeface="+mn-ea"/>
              </a:rPr>
              <a:t>本质上是要解决寄存器来不及写回就要被后续指令使用的情况</a:t>
            </a:r>
            <a:r>
              <a:rPr lang="en-US" altLang="zh-CN" sz="1600" dirty="0">
                <a:uFillTx/>
                <a:latin typeface="Times New Roman" panose="02020603050405020304" charset="0"/>
                <a:ea typeface="宋体-简" panose="02010800040101010101" charset="-122"/>
                <a:sym typeface="+mn-ea"/>
              </a:rPr>
              <a:t>. </a:t>
            </a:r>
            <a:r>
              <a:rPr lang="zh-CN" altLang="en-US" sz="1600" dirty="0">
                <a:uFillTx/>
                <a:latin typeface="Times New Roman" panose="02020603050405020304" charset="0"/>
                <a:ea typeface="宋体-简" panose="02010800040101010101" charset="-122"/>
                <a:sym typeface="+mn-ea"/>
              </a:rPr>
              <a:t>而</a:t>
            </a:r>
            <a:r>
              <a:rPr lang="en-US" altLang="zh-CN" sz="1600" dirty="0">
                <a:uFillTx/>
                <a:latin typeface="Times New Roman" panose="02020603050405020304" charset="0"/>
                <a:ea typeface="宋体-简" panose="02010800040101010101" charset="-122"/>
                <a:sym typeface="+mn-ea"/>
              </a:rPr>
              <a:t>rd</a:t>
            </a:r>
            <a:r>
              <a:rPr lang="zh-CN" altLang="en-US" sz="1600" dirty="0">
                <a:uFillTx/>
                <a:latin typeface="Times New Roman" panose="02020603050405020304" charset="0"/>
                <a:ea typeface="宋体-简" panose="02010800040101010101" charset="-122"/>
                <a:sym typeface="+mn-ea"/>
              </a:rPr>
              <a:t>为</a:t>
            </a:r>
            <a:r>
              <a:rPr lang="en-US" altLang="zh-CN" sz="1600" dirty="0">
                <a:uFillTx/>
                <a:latin typeface="Times New Roman" panose="02020603050405020304" charset="0"/>
                <a:ea typeface="宋体-简" panose="02010800040101010101" charset="-122"/>
                <a:sym typeface="+mn-ea"/>
              </a:rPr>
              <a:t>0</a:t>
            </a:r>
            <a:r>
              <a:rPr lang="zh-CN" altLang="en-US" sz="1600" dirty="0">
                <a:uFillTx/>
                <a:latin typeface="Times New Roman" panose="02020603050405020304" charset="0"/>
                <a:ea typeface="宋体-简" panose="02010800040101010101" charset="-122"/>
                <a:sym typeface="+mn-ea"/>
              </a:rPr>
              <a:t>时候</a:t>
            </a:r>
            <a:r>
              <a:rPr lang="en-US" altLang="zh-CN" sz="1600" dirty="0">
                <a:uFillTx/>
                <a:latin typeface="Times New Roman" panose="02020603050405020304" charset="0"/>
                <a:ea typeface="宋体-简" panose="02010800040101010101" charset="-122"/>
                <a:sym typeface="+mn-ea"/>
              </a:rPr>
              <a:t>, $0</a:t>
            </a:r>
            <a:r>
              <a:rPr lang="zh-CN" altLang="en-US" sz="1600" dirty="0">
                <a:uFillTx/>
                <a:latin typeface="Times New Roman" panose="02020603050405020304" charset="0"/>
                <a:ea typeface="宋体-简" panose="02010800040101010101" charset="-122"/>
                <a:sym typeface="+mn-ea"/>
              </a:rPr>
              <a:t>是个硬编码为</a:t>
            </a:r>
            <a:r>
              <a:rPr lang="en-US" altLang="zh-CN" sz="1600" dirty="0">
                <a:uFillTx/>
                <a:latin typeface="Times New Roman" panose="02020603050405020304" charset="0"/>
                <a:ea typeface="宋体-简" panose="02010800040101010101" charset="-122"/>
                <a:sym typeface="+mn-ea"/>
              </a:rPr>
              <a:t>0</a:t>
            </a:r>
            <a:r>
              <a:rPr lang="zh-CN" altLang="en-US" sz="1600" dirty="0">
                <a:uFillTx/>
                <a:latin typeface="Times New Roman" panose="02020603050405020304" charset="0"/>
                <a:ea typeface="宋体-简" panose="02010800040101010101" charset="-122"/>
                <a:sym typeface="+mn-ea"/>
              </a:rPr>
              <a:t>的寄存器</a:t>
            </a:r>
            <a:r>
              <a:rPr lang="en-US" altLang="zh-CN" sz="1600" dirty="0">
                <a:uFillTx/>
                <a:latin typeface="Times New Roman" panose="02020603050405020304" charset="0"/>
                <a:ea typeface="宋体-简" panose="02010800040101010101" charset="-122"/>
                <a:sym typeface="+mn-ea"/>
              </a:rPr>
              <a:t>, </a:t>
            </a:r>
            <a:r>
              <a:rPr lang="zh-CN" altLang="en-US" sz="1600" dirty="0">
                <a:uFillTx/>
                <a:latin typeface="Times New Roman" panose="02020603050405020304" charset="0"/>
                <a:ea typeface="宋体-简" panose="02010800040101010101" charset="-122"/>
                <a:sym typeface="+mn-ea"/>
              </a:rPr>
              <a:t>无法被写入</a:t>
            </a:r>
            <a:r>
              <a:rPr lang="en-US" altLang="zh-CN" sz="1600" dirty="0">
                <a:uFillTx/>
                <a:latin typeface="Times New Roman" panose="02020603050405020304" charset="0"/>
                <a:ea typeface="宋体-简" panose="02010800040101010101" charset="-122"/>
                <a:sym typeface="+mn-ea"/>
              </a:rPr>
              <a:t>, </a:t>
            </a:r>
            <a:r>
              <a:rPr lang="zh-CN" altLang="en-US" sz="1600" dirty="0">
                <a:uFillTx/>
                <a:latin typeface="Times New Roman" panose="02020603050405020304" charset="0"/>
                <a:ea typeface="宋体-简" panose="02010800040101010101" charset="-122"/>
                <a:sym typeface="+mn-ea"/>
              </a:rPr>
              <a:t>因此被使用的时候自然也不会产生对</a:t>
            </a:r>
            <a:r>
              <a:rPr lang="en-US" altLang="zh-CN" sz="1600" dirty="0">
                <a:uFillTx/>
                <a:latin typeface="Times New Roman" panose="02020603050405020304" charset="0"/>
                <a:ea typeface="宋体-简" panose="02010800040101010101" charset="-122"/>
                <a:sym typeface="+mn-ea"/>
              </a:rPr>
              <a:t>$0</a:t>
            </a:r>
            <a:r>
              <a:rPr lang="zh-CN" altLang="en-US" sz="1600" dirty="0">
                <a:uFillTx/>
                <a:latin typeface="Times New Roman" panose="02020603050405020304" charset="0"/>
                <a:ea typeface="宋体-简" panose="02010800040101010101" charset="-122"/>
                <a:sym typeface="+mn-ea"/>
              </a:rPr>
              <a:t>寄存器值的数据依赖</a:t>
            </a:r>
            <a:r>
              <a:rPr lang="en-US" altLang="zh-CN" sz="1600" dirty="0">
                <a:uFillTx/>
                <a:latin typeface="Times New Roman" panose="02020603050405020304" charset="0"/>
                <a:ea typeface="宋体-简" panose="02010800040101010101" charset="-122"/>
                <a:sym typeface="+mn-ea"/>
              </a:rPr>
              <a:t>. </a:t>
            </a:r>
            <a:r>
              <a:rPr lang="zh-CN" altLang="en-US" sz="1600" dirty="0">
                <a:uFillTx/>
                <a:latin typeface="Times New Roman" panose="02020603050405020304" charset="0"/>
                <a:ea typeface="宋体-简" panose="02010800040101010101" charset="-122"/>
                <a:sym typeface="+mn-ea"/>
              </a:rPr>
              <a:t>代码层面</a:t>
            </a:r>
            <a:r>
              <a:rPr lang="en-US" altLang="zh-CN" sz="1600" dirty="0">
                <a:uFillTx/>
                <a:latin typeface="Times New Roman" panose="02020603050405020304" charset="0"/>
                <a:ea typeface="宋体-简" panose="02010800040101010101" charset="-122"/>
                <a:sym typeface="+mn-ea"/>
              </a:rPr>
              <a:t>: decode</a:t>
            </a:r>
            <a:r>
              <a:rPr lang="zh-CN" altLang="en-US" sz="1600" dirty="0">
                <a:uFillTx/>
                <a:latin typeface="Times New Roman" panose="02020603050405020304" charset="0"/>
                <a:ea typeface="宋体-简" panose="02010800040101010101" charset="-122"/>
                <a:sym typeface="+mn-ea"/>
              </a:rPr>
              <a:t>阶段</a:t>
            </a:r>
            <a:r>
              <a:rPr lang="en-US" altLang="zh-CN" sz="1600" dirty="0">
                <a:uFillTx/>
                <a:latin typeface="Times New Roman" panose="02020603050405020304" charset="0"/>
                <a:ea typeface="宋体-简" panose="02010800040101010101" charset="-122"/>
                <a:sym typeface="+mn-ea"/>
              </a:rPr>
              <a:t>rf_we = |rd; </a:t>
            </a:r>
            <a:r>
              <a:rPr lang="zh-CN" altLang="en-US" sz="1600" dirty="0">
                <a:uFillTx/>
                <a:latin typeface="Times New Roman" panose="02020603050405020304" charset="0"/>
                <a:ea typeface="宋体-简" panose="02010800040101010101" charset="-122"/>
                <a:sym typeface="+mn-ea"/>
              </a:rPr>
              <a:t>导致</a:t>
            </a:r>
            <a:r>
              <a:rPr lang="en-US" altLang="zh-CN" sz="1600" dirty="0">
                <a:uFillTx/>
                <a:latin typeface="Times New Roman" panose="02020603050405020304" charset="0"/>
                <a:ea typeface="宋体-简" panose="02010800040101010101" charset="-122"/>
                <a:sym typeface="+mn-ea"/>
              </a:rPr>
              <a:t>rd=5’b0</a:t>
            </a:r>
            <a:r>
              <a:rPr lang="zh-CN" altLang="en-US" sz="1600" dirty="0">
                <a:uFillTx/>
                <a:latin typeface="Times New Roman" panose="02020603050405020304" charset="0"/>
                <a:ea typeface="宋体-简" panose="02010800040101010101" charset="-122"/>
                <a:sym typeface="+mn-ea"/>
              </a:rPr>
              <a:t>时后续</a:t>
            </a:r>
            <a:r>
              <a:rPr lang="en-US" altLang="zh-CN" sz="1600" dirty="0">
                <a:uFillTx/>
                <a:latin typeface="Times New Roman" panose="02020603050405020304" charset="0"/>
                <a:ea typeface="宋体-简" panose="02010800040101010101" charset="-122"/>
                <a:sym typeface="+mn-ea"/>
              </a:rPr>
              <a:t>Hazard</a:t>
            </a:r>
            <a:r>
              <a:rPr lang="zh-CN" altLang="en-US" sz="1600" dirty="0">
                <a:uFillTx/>
                <a:latin typeface="Times New Roman" panose="02020603050405020304" charset="0"/>
                <a:ea typeface="宋体-简" panose="02010800040101010101" charset="-122"/>
                <a:sym typeface="+mn-ea"/>
              </a:rPr>
              <a:t>模块的</a:t>
            </a:r>
            <a:r>
              <a:rPr lang="en-US" altLang="zh-CN" sz="1600" dirty="0">
                <a:uFillTx/>
                <a:latin typeface="Times New Roman" panose="02020603050405020304" charset="0"/>
                <a:ea typeface="宋体-简" panose="02010800040101010101" charset="-122"/>
                <a:sym typeface="+mn-ea"/>
              </a:rPr>
              <a:t>Forward</a:t>
            </a:r>
            <a:r>
              <a:rPr lang="zh-CN" altLang="en-US" sz="1600" dirty="0">
                <a:uFillTx/>
                <a:latin typeface="Times New Roman" panose="02020603050405020304" charset="0"/>
                <a:ea typeface="宋体-简" panose="02010800040101010101" charset="-122"/>
                <a:sym typeface="+mn-ea"/>
              </a:rPr>
              <a:t>逻辑全部不会生效</a:t>
            </a:r>
            <a:r>
              <a:rPr lang="en-US" altLang="zh-CN" sz="1600" dirty="0">
                <a:uFillTx/>
                <a:latin typeface="Times New Roman" panose="02020603050405020304" charset="0"/>
                <a:ea typeface="宋体-简" panose="02010800040101010101" charset="-122"/>
                <a:sym typeface="+mn-ea"/>
              </a:rPr>
              <a:t>. </a:t>
            </a:r>
            <a:endParaRPr lang="en-US" altLang="zh-CN" sz="1600" dirty="0">
              <a:uFillTx/>
              <a:latin typeface="Times New Roman" panose="02020603050405020304" charset="0"/>
              <a:ea typeface="宋体-简" panose="02010800040101010101" charset="-122"/>
              <a:sym typeface="+mn-ea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en-US" altLang="zh-CN" sz="2000" dirty="0">
                <a:solidFill>
                  <a:schemeClr val="accent6"/>
                </a:solidFill>
                <a:uFillTx/>
                <a:latin typeface="Times New Roman" panose="02020603050405020304" charset="0"/>
                <a:ea typeface="宋体-简" panose="02010800040101010101" charset="-122"/>
                <a:sym typeface="+mn-ea"/>
              </a:rPr>
              <a:t>2. 在我们的框架中，为什么 ALU 的 rs1 会有0这个选项？如果没有这个选项，那么原来借助这个选项实现的指令的 ALU 运算应该如何实现？</a:t>
            </a:r>
            <a:endParaRPr lang="en-US" altLang="zh-CN" sz="1600" dirty="0">
              <a:uFillTx/>
              <a:latin typeface="Times New Roman" panose="02020603050405020304" charset="0"/>
              <a:ea typeface="宋体-简" panose="02010800040101010101" charset="-122"/>
              <a:sym typeface="+mn-ea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en-US" altLang="zh-CN" sz="1600" dirty="0">
                <a:uFillTx/>
                <a:latin typeface="Times New Roman" panose="02020603050405020304" charset="0"/>
                <a:ea typeface="宋体-简" panose="02010800040101010101" charset="-122"/>
                <a:sym typeface="+mn-ea"/>
              </a:rPr>
              <a:t>- </a:t>
            </a:r>
            <a:r>
              <a:rPr lang="zh-CN" altLang="en-US" sz="1600" dirty="0">
                <a:uFillTx/>
                <a:latin typeface="Times New Roman" panose="02020603050405020304" charset="0"/>
                <a:ea typeface="宋体-简" panose="02010800040101010101" charset="-122"/>
                <a:sym typeface="+mn-ea"/>
              </a:rPr>
              <a:t>设计</a:t>
            </a:r>
            <a:r>
              <a:rPr lang="en-US" altLang="zh-CN" sz="1600" dirty="0">
                <a:uFillTx/>
                <a:latin typeface="Times New Roman" panose="02020603050405020304" charset="0"/>
                <a:ea typeface="宋体-简" panose="02010800040101010101" charset="-122"/>
                <a:sym typeface="+mn-ea"/>
              </a:rPr>
              <a:t>rs1</a:t>
            </a:r>
            <a:r>
              <a:rPr lang="zh-CN" altLang="en-US" sz="1600" dirty="0">
                <a:uFillTx/>
                <a:latin typeface="Times New Roman" panose="02020603050405020304" charset="0"/>
                <a:ea typeface="宋体-简" panose="02010800040101010101" charset="-122"/>
                <a:sym typeface="+mn-ea"/>
              </a:rPr>
              <a:t>其中一个选项为</a:t>
            </a:r>
            <a:r>
              <a:rPr lang="en-US" altLang="zh-CN" sz="1600" dirty="0">
                <a:uFillTx/>
                <a:latin typeface="Times New Roman" panose="02020603050405020304" charset="0"/>
                <a:ea typeface="宋体-简" panose="02010800040101010101" charset="-122"/>
                <a:sym typeface="+mn-ea"/>
              </a:rPr>
              <a:t>0</a:t>
            </a:r>
            <a:r>
              <a:rPr lang="zh-CN" altLang="en-US" sz="1600" dirty="0">
                <a:uFillTx/>
                <a:latin typeface="Times New Roman" panose="02020603050405020304" charset="0"/>
                <a:ea typeface="宋体-简" panose="02010800040101010101" charset="-122"/>
                <a:sym typeface="+mn-ea"/>
              </a:rPr>
              <a:t>是为了支持</a:t>
            </a:r>
            <a:r>
              <a:rPr lang="en-US" altLang="zh-CN" sz="1600" dirty="0">
                <a:uFillTx/>
                <a:latin typeface="Times New Roman" panose="02020603050405020304" charset="0"/>
                <a:ea typeface="宋体-简" panose="02010800040101010101" charset="-122"/>
                <a:sym typeface="+mn-ea"/>
              </a:rPr>
              <a:t>lui (Load Upper Immediate, </a:t>
            </a:r>
            <a:r>
              <a:rPr lang="zh-CN" altLang="en-US" sz="1600" dirty="0">
                <a:uFillTx/>
                <a:latin typeface="Times New Roman" panose="02020603050405020304" charset="0"/>
                <a:ea typeface="宋体-简" panose="02010800040101010101" charset="-122"/>
                <a:sym typeface="+mn-ea"/>
              </a:rPr>
              <a:t>装入高位立即数</a:t>
            </a:r>
            <a:r>
              <a:rPr lang="en-US" altLang="zh-CN" sz="1600" dirty="0">
                <a:uFillTx/>
                <a:latin typeface="Times New Roman" panose="02020603050405020304" charset="0"/>
                <a:ea typeface="宋体-简" panose="02010800040101010101" charset="-122"/>
                <a:sym typeface="+mn-ea"/>
              </a:rPr>
              <a:t>) </a:t>
            </a:r>
            <a:r>
              <a:rPr lang="zh-CN" altLang="en-US" sz="1600" dirty="0">
                <a:uFillTx/>
                <a:latin typeface="Times New Roman" panose="02020603050405020304" charset="0"/>
                <a:ea typeface="宋体-简" panose="02010800040101010101" charset="-122"/>
                <a:sym typeface="+mn-ea"/>
              </a:rPr>
              <a:t>指令</a:t>
            </a:r>
            <a:r>
              <a:rPr lang="en-US" altLang="zh-CN" sz="1600" dirty="0">
                <a:uFillTx/>
                <a:latin typeface="Times New Roman" panose="02020603050405020304" charset="0"/>
                <a:ea typeface="宋体-简" panose="02010800040101010101" charset="-122"/>
                <a:sym typeface="+mn-ea"/>
              </a:rPr>
              <a:t>. </a:t>
            </a:r>
            <a:r>
              <a:rPr lang="zh-CN" altLang="en-US" sz="1600" dirty="0">
                <a:uFillTx/>
                <a:latin typeface="Times New Roman" panose="02020603050405020304" charset="0"/>
                <a:ea typeface="宋体-简" panose="02010800040101010101" charset="-122"/>
                <a:sym typeface="+mn-ea"/>
              </a:rPr>
              <a:t>如果没有这个选项可能只能选择成</a:t>
            </a:r>
            <a:r>
              <a:rPr lang="en-US" altLang="zh-CN" sz="1600" dirty="0">
                <a:uFillTx/>
                <a:latin typeface="Times New Roman" panose="02020603050405020304" charset="0"/>
                <a:ea typeface="宋体-简" panose="02010800040101010101" charset="-122"/>
                <a:sym typeface="+mn-ea"/>
              </a:rPr>
              <a:t>rs1</a:t>
            </a:r>
            <a:r>
              <a:rPr lang="zh-CN" altLang="en-US" sz="1600" dirty="0">
                <a:uFillTx/>
                <a:latin typeface="Times New Roman" panose="02020603050405020304" charset="0"/>
                <a:ea typeface="宋体-简" panose="02010800040101010101" charset="-122"/>
                <a:sym typeface="+mn-ea"/>
              </a:rPr>
              <a:t>这个选项</a:t>
            </a:r>
            <a:r>
              <a:rPr lang="en-US" altLang="zh-CN" sz="1600" dirty="0">
                <a:uFillTx/>
                <a:latin typeface="Times New Roman" panose="02020603050405020304" charset="0"/>
                <a:ea typeface="宋体-简" panose="02010800040101010101" charset="-122"/>
                <a:sym typeface="+mn-ea"/>
              </a:rPr>
              <a:t>, </a:t>
            </a:r>
            <a:r>
              <a:rPr lang="zh-CN" altLang="en-US" sz="1600" dirty="0">
                <a:uFillTx/>
                <a:latin typeface="Times New Roman" panose="02020603050405020304" charset="0"/>
                <a:ea typeface="宋体-简" panose="02010800040101010101" charset="-122"/>
                <a:sym typeface="+mn-ea"/>
              </a:rPr>
              <a:t>并且在</a:t>
            </a:r>
            <a:r>
              <a:rPr lang="en-US" altLang="zh-CN" sz="1600" dirty="0">
                <a:uFillTx/>
                <a:latin typeface="Times New Roman" panose="02020603050405020304" charset="0"/>
                <a:ea typeface="宋体-简" panose="02010800040101010101" charset="-122"/>
                <a:sym typeface="+mn-ea"/>
              </a:rPr>
              <a:t>decode</a:t>
            </a:r>
            <a:r>
              <a:rPr lang="zh-CN" altLang="en-US" sz="1600" dirty="0">
                <a:uFillTx/>
                <a:latin typeface="Times New Roman" panose="02020603050405020304" charset="0"/>
                <a:ea typeface="宋体-简" panose="02010800040101010101" charset="-122"/>
                <a:sym typeface="+mn-ea"/>
              </a:rPr>
              <a:t>阶段想方设法将读寄存器设置为</a:t>
            </a:r>
            <a:r>
              <a:rPr lang="en-US" altLang="zh-CN" sz="1600" dirty="0">
                <a:uFillTx/>
                <a:latin typeface="Times New Roman" panose="02020603050405020304" charset="0"/>
                <a:ea typeface="宋体-简" panose="02010800040101010101" charset="-122"/>
                <a:sym typeface="+mn-ea"/>
              </a:rPr>
              <a:t>$0</a:t>
            </a:r>
            <a:r>
              <a:rPr lang="zh-CN" altLang="en-US" sz="1600" dirty="0">
                <a:uFillTx/>
                <a:latin typeface="Times New Roman" panose="02020603050405020304" charset="0"/>
                <a:ea typeface="宋体-简" panose="02010800040101010101" charset="-122"/>
                <a:sym typeface="+mn-ea"/>
              </a:rPr>
              <a:t>寄存器了</a:t>
            </a:r>
            <a:r>
              <a:rPr lang="en-US" altLang="zh-CN" sz="1600" dirty="0">
                <a:uFillTx/>
                <a:latin typeface="Times New Roman" panose="02020603050405020304" charset="0"/>
                <a:ea typeface="宋体-简" panose="02010800040101010101" charset="-122"/>
                <a:sym typeface="+mn-ea"/>
              </a:rPr>
              <a:t>. </a:t>
            </a:r>
            <a:endParaRPr lang="en-US" altLang="zh-CN" sz="1600" dirty="0">
              <a:uFillTx/>
              <a:latin typeface="Times New Roman" panose="02020603050405020304" charset="0"/>
              <a:ea typeface="宋体-简" panose="02010800040101010101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s 40"/>
          <p:cNvSpPr/>
          <p:nvPr/>
        </p:nvSpPr>
        <p:spPr>
          <a:xfrm>
            <a:off x="120015" y="116840"/>
            <a:ext cx="11952000" cy="6624000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>
              <a:sym typeface="+mn-ea"/>
            </a:endParaRPr>
          </a:p>
        </p:txBody>
      </p:sp>
      <p:sp>
        <p:nvSpPr>
          <p:cNvPr id="42" name="Text Box 41"/>
          <p:cNvSpPr txBox="1"/>
          <p:nvPr/>
        </p:nvSpPr>
        <p:spPr>
          <a:xfrm>
            <a:off x="120015" y="116840"/>
            <a:ext cx="740727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buFont typeface="Arial" panose="020B0604020202020204" pitchFamily="34" charset="0"/>
              <a:buNone/>
            </a:pPr>
            <a:r>
              <a:rPr lang="en-US" altLang="zh-CN" sz="3200" dirty="0">
                <a:uFillTx/>
                <a:latin typeface="Times New Roman" panose="02020603050405020304" charset="0"/>
                <a:ea typeface="宋体-简" panose="02010800040101010101" charset="-122"/>
                <a:sym typeface="+mn-ea"/>
              </a:rPr>
              <a:t>&lt;num&gt;. TODO</a:t>
            </a:r>
            <a:endParaRPr lang="en-US" altLang="zh-CN" sz="3200" dirty="0">
              <a:uFillTx/>
              <a:latin typeface="Times New Roman" panose="02020603050405020304" charset="0"/>
              <a:ea typeface="宋体-简" panose="02010800040101010101" charset="-122"/>
              <a:sym typeface="+mn-ea"/>
            </a:endParaRPr>
          </a:p>
        </p:txBody>
      </p:sp>
      <p:cxnSp>
        <p:nvCxnSpPr>
          <p:cNvPr id="43" name="Straight Connector 42"/>
          <p:cNvCxnSpPr/>
          <p:nvPr/>
        </p:nvCxnSpPr>
        <p:spPr>
          <a:xfrm>
            <a:off x="120015" y="700405"/>
            <a:ext cx="11952000" cy="0"/>
          </a:xfrm>
          <a:prstGeom prst="line">
            <a:avLst/>
          </a:prstGeom>
          <a:ln>
            <a:solidFill>
              <a:srgbClr val="2020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>
            <p:custDataLst>
              <p:tags r:id="rId1"/>
            </p:custDataLst>
          </p:nvPr>
        </p:nvSpPr>
        <p:spPr>
          <a:xfrm>
            <a:off x="120015" y="700405"/>
            <a:ext cx="11952605" cy="14173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>
              <a:buFont typeface="Arial" panose="020B0604020202020204" pitchFamily="34" charset="0"/>
              <a:buNone/>
            </a:pPr>
            <a:r>
              <a:rPr lang="en-US" altLang="zh-CN" sz="2000" b="1" dirty="0">
                <a:solidFill>
                  <a:schemeClr val="accent6"/>
                </a:solidFill>
                <a:uFillTx/>
                <a:latin typeface="Times New Roman" panose="02020603050405020304" charset="0"/>
                <a:ea typeface="宋体-简" panose="02010800040101010101" charset="-122"/>
              </a:rPr>
              <a:t>TODO</a:t>
            </a:r>
            <a:br>
              <a:rPr lang="en-US" altLang="zh-CN" sz="2400" b="1" dirty="0">
                <a:solidFill>
                  <a:schemeClr val="accent6"/>
                </a:solidFill>
                <a:latin typeface="Times New Roman" panose="02020603050405020304" charset="0"/>
                <a:ea typeface="宋体-简" panose="02010800040101010101" charset="-122"/>
              </a:rPr>
            </a:br>
            <a:r>
              <a:rPr lang="en-US" sz="1600" dirty="0">
                <a:latin typeface="Times New Roman" panose="02020603050405020304" charset="0"/>
                <a:ea typeface="宋体-简" panose="02010800040101010101" charset="-122"/>
              </a:rPr>
              <a:t>TODO</a:t>
            </a:r>
            <a:endParaRPr lang="en-US" sz="1600" dirty="0">
              <a:uFillTx/>
              <a:latin typeface="Times New Roman" panose="02020603050405020304" charset="0"/>
              <a:ea typeface="宋体-简" panose="02010800040101010101" charset="-122"/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commondata" val="eyJoZGlkIjoiNTNhZTNjZWI2NTU4MGQwMmQ2MDk0YTViYzY3ZjJmYzc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lang="en-US" altLang="zh-CN">
            <a:solidFill>
              <a:schemeClr val="tx1"/>
            </a:solidFill>
            <a:uFillTx/>
            <a:latin typeface="Times New Roman" panose="02020603050405020304" charset="0"/>
            <a:ea typeface="宋体-简" panose="02010800040101010101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463</Words>
  <Application>WPS Presentation</Application>
  <PresentationFormat>宽屏</PresentationFormat>
  <Paragraphs>15</Paragraphs>
  <Slides>3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6" baseType="lpstr">
      <vt:lpstr>Arial</vt:lpstr>
      <vt:lpstr>SimSun</vt:lpstr>
      <vt:lpstr>Wingdings</vt:lpstr>
      <vt:lpstr>Times New Roman</vt:lpstr>
      <vt:lpstr>宋体-简</vt:lpstr>
      <vt:lpstr>Droid Sans Fallback</vt:lpstr>
      <vt:lpstr>Calibri</vt:lpstr>
      <vt:lpstr>Trebuchet MS</vt:lpstr>
      <vt:lpstr>Microsoft YaHei</vt:lpstr>
      <vt:lpstr>Arial Unicode MS</vt:lpstr>
      <vt:lpstr>SimSun</vt:lpstr>
      <vt:lpstr>OpenSymbol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cym</cp:lastModifiedBy>
  <cp:revision>427</cp:revision>
  <dcterms:created xsi:type="dcterms:W3CDTF">2025-11-29T18:37:36Z</dcterms:created>
  <dcterms:modified xsi:type="dcterms:W3CDTF">2025-11-29T18:37:36Z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1033-11.1.0.11723</vt:lpwstr>
  </property>
  <property fmtid="{D5CDD505-2E9C-101B-9397-08002B2CF9AE}" pid="3" name="ICV">
    <vt:lpwstr>F724FD614992DF8B363A2569BEEC9CC8_43</vt:lpwstr>
  </property>
</Properties>
</file>